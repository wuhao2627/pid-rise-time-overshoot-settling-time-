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11" r:id="rId2"/>
    <p:sldId id="699" r:id="rId3"/>
    <p:sldId id="698" r:id="rId4"/>
    <p:sldId id="701" r:id="rId5"/>
    <p:sldId id="702" r:id="rId6"/>
    <p:sldId id="703" r:id="rId7"/>
    <p:sldId id="704" r:id="rId8"/>
    <p:sldId id="705" r:id="rId9"/>
    <p:sldId id="706" r:id="rId10"/>
    <p:sldId id="694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3" autoAdjust="0"/>
    <p:restoredTop sz="94660"/>
  </p:normalViewPr>
  <p:slideViewPr>
    <p:cSldViewPr snapToGrid="0">
      <p:cViewPr varScale="1">
        <p:scale>
          <a:sx n="82" d="100"/>
          <a:sy n="82" d="100"/>
        </p:scale>
        <p:origin x="102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73E94F-A085-4D81-B1D0-D81EC78F54F0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CF2F9B-6AD2-42BA-8095-15DFFAEEDC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669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F34D1A-B7E5-DE48-8EA9-859D9DE63652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294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BF845-ADEE-00E1-283E-C626AE3D69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779EB6-F29D-B696-0F2C-F58F580481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BBE9C-1BE4-51BA-5A84-47919AEAE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EB44D-17CC-4570-AB8F-788E4A19EB58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8A0C6-1832-854E-3D21-117E49E4C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120CF-8300-6F8C-3687-30378BD01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6EBC-B4B0-4C51-BD4E-5BF3704F1B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7146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ED008-7B97-8D61-3CD7-644F5B9E1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62D5C-33DE-EB08-6219-1504D7F7D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65B43-587C-E182-35CE-11ECDB2E2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EB44D-17CC-4570-AB8F-788E4A19EB58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9DF19-8791-DF6D-EE86-0F8F38604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8BDD2-A010-C84A-8BD2-47F5D5AAC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6EBC-B4B0-4C51-BD4E-5BF3704F1B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2217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72813-7456-A0AD-81FC-0A3E69BDB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CEF17-9397-CA60-18D7-5E622C80D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C2977-B993-F3DC-515C-D311AEC4C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EB44D-17CC-4570-AB8F-788E4A19EB58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441D7-77F0-09BA-70F3-225AA4454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F1AF8-3783-6AD9-3D62-582C653D8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6EBC-B4B0-4C51-BD4E-5BF3704F1B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A0A73-F43A-D2CF-174A-9E18B9024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EEE88-01BC-713F-CB5D-FCA46C09C2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A6F57D-09B7-C8C3-EBF2-754D9C9476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ED1131-C756-8C36-08CD-26F17D7DF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EB44D-17CC-4570-AB8F-788E4A19EB58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19ADC5-B6F2-7133-E9A9-9B4B335F8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FD2A08-C031-6466-21B5-CF847E2D0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6EBC-B4B0-4C51-BD4E-5BF3704F1B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9323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E822E-0562-177C-B871-FD6C5BA7B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C57F1C-3904-13E5-01CC-7AF480210C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27427D-E334-4E3C-7097-1857B62F6B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5F4C6E-1867-4145-0318-06BDF08F92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850EAE-333E-8476-A1D6-DE8D062B14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F3AB7A-0527-5140-8818-45304CAAA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EB44D-17CC-4570-AB8F-788E4A19EB58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ABC897-0973-9C5C-49B9-62C1DDF87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7F64E0-F064-5C46-66AC-D8C4B3543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6EBC-B4B0-4C51-BD4E-5BF3704F1B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451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8E3F5-23E4-9F4C-89F2-18E09D67C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32B895-1C55-EC9B-2EA4-83F579F7C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EB44D-17CC-4570-AB8F-788E4A19EB58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C9ECBF-3D9E-1DF2-50E8-61B272E9D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FF6B20-C511-E8D4-984A-D7F930147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6EBC-B4B0-4C51-BD4E-5BF3704F1B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821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10A92-AB26-96FE-4060-59FDD23CD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EB44D-17CC-4570-AB8F-788E4A19EB58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74572E-020D-30B7-3243-2ACA46B05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79B0FE-0107-596C-90B1-B10F27D28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6EBC-B4B0-4C51-BD4E-5BF3704F1B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8073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5446B-58EA-7BF9-8428-F7380C5CF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2D906-F1F7-4D4B-0866-5D1509BD8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9A65F0-B55B-216C-AFB8-1988092E39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62B892-1E0D-1CC4-D956-8F50F3D12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EB44D-17CC-4570-AB8F-788E4A19EB58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013908-A7F7-C392-2D1E-754FC71A6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F42FB7-90DD-2512-F63B-4BA4AC82B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6EBC-B4B0-4C51-BD4E-5BF3704F1B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3376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98416-7FB2-80A4-3667-195D761DC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C623F1-EC3B-2E5B-B322-483873CAEB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C1105E-AD8A-8417-BF31-7FE2BFE908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859EC0-AF89-34E8-5281-26FFF57A2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EB44D-17CC-4570-AB8F-788E4A19EB58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9FFB17-4FB2-1360-A288-138700A50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C10327-BDFE-4476-828B-A3A735DA0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6EBC-B4B0-4C51-BD4E-5BF3704F1B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0807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7CA-F884-5410-CA6E-4351B3CD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4880D9-FE67-9925-3CAF-CCA056806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881BC-05A4-83D5-9A4B-93BB4252D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EB44D-17CC-4570-AB8F-788E4A19EB58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874F7-4C24-EE47-F4C2-4F8FCFA7B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F3C06-1809-8F62-96FF-6C6AF627F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6EBC-B4B0-4C51-BD4E-5BF3704F1B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2656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BFEF83-68B1-D988-2A85-FB8F188421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7DB920-106B-112F-603E-14043DA08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75CC2-2B19-8606-8ED6-C4F12AF2C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EB44D-17CC-4570-AB8F-788E4A19EB58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E746A-9A17-ED84-3D5F-0E3C1A384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AE0DA-BD98-1826-525C-8C5400D76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6EBC-B4B0-4C51-BD4E-5BF3704F1B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3139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">
            <a:extLst>
              <a:ext uri="{FF2B5EF4-FFF2-40B4-BE49-F238E27FC236}">
                <a16:creationId xmlns:a16="http://schemas.microsoft.com/office/drawing/2014/main" id="{8A7D6771-8BD6-56F2-C651-0270416CB2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7051" y="4095631"/>
            <a:ext cx="11137900" cy="738664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 marL="0" indent="0" algn="l">
              <a:buFont typeface="Arial"/>
              <a:buNone/>
              <a:defRPr sz="3733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0209106-701E-0FA4-8D66-ECA5A68A8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7051" y="4870989"/>
            <a:ext cx="11137901" cy="28725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133" baseline="0">
                <a:solidFill>
                  <a:schemeClr val="bg2"/>
                </a:solidFill>
              </a:defRPr>
            </a:lvl1pPr>
            <a:lvl2pPr marL="6095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Optional Subtitle</a:t>
            </a:r>
          </a:p>
        </p:txBody>
      </p:sp>
      <p:sp>
        <p:nvSpPr>
          <p:cNvPr id="11" name="Presenter and date">
            <a:extLst>
              <a:ext uri="{FF2B5EF4-FFF2-40B4-BE49-F238E27FC236}">
                <a16:creationId xmlns:a16="http://schemas.microsoft.com/office/drawing/2014/main" id="{9E6291D9-FE63-E170-EF88-D3B4E6547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051" y="5551950"/>
            <a:ext cx="11137900" cy="28726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67" baseline="0"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/>
              <a:t>Presented by: </a:t>
            </a:r>
          </a:p>
          <a:p>
            <a:pPr lvl="0"/>
            <a:endParaRPr lang="en-AU" noProof="0"/>
          </a:p>
        </p:txBody>
      </p:sp>
      <p:sp>
        <p:nvSpPr>
          <p:cNvPr id="2" name="Image placeholder">
            <a:extLst>
              <a:ext uri="{FF2B5EF4-FFF2-40B4-BE49-F238E27FC236}">
                <a16:creationId xmlns:a16="http://schemas.microsoft.com/office/drawing/2014/main" id="{F9E484E0-B175-9F72-18CE-9C0D687A2BC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8938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7" tIns="45718" rIns="91437" bIns="45718"/>
          <a:lstStyle>
            <a:lvl1pPr>
              <a:buNone/>
              <a:defRPr sz="1867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BEE6ED78-F0FC-0CA6-ED66-35B2B4B6B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893841"/>
            <a:ext cx="12192000" cy="123111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PL" sz="240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BA84AC58-2B59-2E91-1334-9BA6D032EB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Property of Schneider Electric</a:t>
            </a:r>
          </a:p>
        </p:txBody>
      </p:sp>
    </p:spTree>
    <p:extLst>
      <p:ext uri="{BB962C8B-B14F-4D97-AF65-F5344CB8AC3E}">
        <p14:creationId xmlns:p14="http://schemas.microsoft.com/office/powerpoint/2010/main" val="1942350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344075" y="281238"/>
            <a:ext cx="11511375" cy="461729"/>
          </a:xfrm>
        </p:spPr>
        <p:txBody>
          <a:bodyPr>
            <a:spAutoFit/>
          </a:bodyPr>
          <a:lstStyle>
            <a:lvl1pPr>
              <a:defRPr sz="2667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36552" y="5438088"/>
            <a:ext cx="7440081" cy="147797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21166" indent="0">
              <a:buNone/>
              <a:defRPr sz="1067" baseline="0">
                <a:solidFill>
                  <a:srgbClr val="8E8F93"/>
                </a:solidFill>
              </a:defRPr>
            </a:lvl1pPr>
          </a:lstStyle>
          <a:p>
            <a:pPr lvl="0"/>
            <a:r>
              <a:rPr lang="en-US" dirty="0"/>
              <a:t>Optional caption goes here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5" hasCustomPrompt="1"/>
          </p:nvPr>
        </p:nvSpPr>
        <p:spPr>
          <a:xfrm>
            <a:off x="344074" y="806581"/>
            <a:ext cx="11511375" cy="20319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67" b="0" baseline="0">
                <a:solidFill>
                  <a:schemeClr val="accent6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7"/>
          </p:nvPr>
        </p:nvSpPr>
        <p:spPr>
          <a:xfrm>
            <a:off x="336549" y="1604436"/>
            <a:ext cx="7440083" cy="1874017"/>
          </a:xfrm>
        </p:spPr>
        <p:txBody>
          <a:bodyPr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30521" y="6476207"/>
            <a:ext cx="70092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8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6551" y="6476206"/>
            <a:ext cx="2013023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8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555044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BDCE73-CA7A-DF25-E4DC-98EB5BF6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7270F-1C7D-966D-7DF3-686B266B3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9ED6B-7FF9-C5AB-1621-8D9649E659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AEB44D-17CC-4570-AB8F-788E4A19EB58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3EB18-1D51-4F55-7550-7B32B9AFE1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E9042-0647-3906-D85C-A2AEC9EED1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D56EBC-B4B0-4C51-BD4E-5BF3704F1B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704781-E132-5381-33F8-17CC41BA991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965825" y="6703060"/>
            <a:ext cx="276225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CN" altLang="en-US" sz="600">
                <a:solidFill>
                  <a:srgbClr val="626469">
                    <a:alpha val="50000"/>
                  </a:srgbClr>
                </a:solidFill>
                <a:latin typeface="Aptos" panose="020B0004020202020204" pitchFamily="34" charset="0"/>
              </a:rPr>
              <a:t>General</a:t>
            </a:r>
          </a:p>
        </p:txBody>
      </p:sp>
    </p:spTree>
    <p:extLst>
      <p:ext uri="{BB962C8B-B14F-4D97-AF65-F5344CB8AC3E}">
        <p14:creationId xmlns:p14="http://schemas.microsoft.com/office/powerpoint/2010/main" val="526669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FF2EB40-EDC5-A37A-DF1F-810AB6257A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Fan Modeling and Controller</a:t>
            </a:r>
            <a:endParaRPr lang="en-PL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B658F959-CA26-64C8-9A24-2AC3ED1B37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24</a:t>
            </a:r>
            <a:r>
              <a:rPr lang="en-US" baseline="30000" dirty="0"/>
              <a:t>th</a:t>
            </a:r>
            <a:r>
              <a:rPr lang="en-US" dirty="0"/>
              <a:t> Oct</a:t>
            </a:r>
            <a:r>
              <a:rPr lang="en-PL" dirty="0"/>
              <a:t> 202</a:t>
            </a:r>
            <a:r>
              <a:rPr lang="en-US" dirty="0"/>
              <a:t>5</a:t>
            </a:r>
            <a:endParaRPr lang="en-PL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382A70A-B21F-2ADF-31A0-15ED34CA56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7051" y="5551949"/>
            <a:ext cx="11137900" cy="307776"/>
          </a:xfrm>
        </p:spPr>
        <p:txBody>
          <a:bodyPr/>
          <a:lstStyle/>
          <a:p>
            <a:r>
              <a:rPr lang="en-US" sz="2000" dirty="0"/>
              <a:t>Hao WU</a:t>
            </a:r>
            <a:endParaRPr lang="en-PL" sz="2000" dirty="0"/>
          </a:p>
        </p:txBody>
      </p:sp>
      <p:pic>
        <p:nvPicPr>
          <p:cNvPr id="8" name="Picture Placeholder 9">
            <a:extLst>
              <a:ext uri="{FF2B5EF4-FFF2-40B4-BE49-F238E27FC236}">
                <a16:creationId xmlns:a16="http://schemas.microsoft.com/office/drawing/2014/main" id="{1C1AE153-1DF7-3AE1-558C-A981A8484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36000"/>
                    </a14:imgEffect>
                  </a14:imgLayer>
                </a14:imgProps>
              </a:ext>
            </a:extLst>
          </a:blip>
          <a:srcRect t="16704" b="16704"/>
          <a:stretch/>
        </p:blipFill>
        <p:spPr>
          <a:xfrm>
            <a:off x="0" y="-1"/>
            <a:ext cx="12192000" cy="3893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284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9">
            <a:extLst>
              <a:ext uri="{FF2B5EF4-FFF2-40B4-BE49-F238E27FC236}">
                <a16:creationId xmlns:a16="http://schemas.microsoft.com/office/drawing/2014/main" id="{23632A7F-424D-771C-ECB2-7EB5A3B25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77" y="201277"/>
            <a:ext cx="11511375" cy="461729"/>
          </a:xfrm>
        </p:spPr>
        <p:txBody>
          <a:bodyPr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Fan Mode</a:t>
            </a:r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DAF711C-39C8-E432-0673-D0326331E1BB}"/>
                  </a:ext>
                </a:extLst>
              </p:cNvPr>
              <p:cNvSpPr txBox="1"/>
              <p:nvPr/>
            </p:nvSpPr>
            <p:spPr>
              <a:xfrm>
                <a:off x="371610" y="745853"/>
                <a:ext cx="10400892" cy="55872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600" b="1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-System Dynamics: </a:t>
                </a:r>
              </a:p>
              <a:p>
                <a:pPr marL="380990" indent="-380990"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Total inertia: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pPr marL="380990" indent="-380990"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System equation:</a:t>
                </a:r>
                <a:r>
                  <a:rPr lang="en-US" altLang="zh-CN" sz="16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type m:val="skw"/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𝑑𝑤</m:t>
                        </m:r>
                      </m:num>
                      <m:den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𝑐𝑜𝑛𝑡𝑟𝑜𝑙</m:t>
                        </m:r>
                      </m:sub>
                    </m:sSub>
                    <m:r>
                      <a:rPr lang="en-US" altLang="zh-CN" sz="16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n-US" altLang="zh-CN" sz="1600" dirty="0">
                  <a:solidFill>
                    <a:srgbClr val="000000"/>
                  </a:solidFill>
                  <a:ea typeface="Cambria Math" panose="02040503050406030204" pitchFamily="18" charset="0"/>
                </a:endParaRPr>
              </a:p>
              <a:p>
                <a:pPr marL="380990" indent="-380990"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Fan torque:</a:t>
                </a:r>
                <a:r>
                  <a:rPr lang="en-US" altLang="zh-CN" sz="1600" dirty="0">
                    <a:solidFill>
                      <a:srgbClr val="00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=</a:t>
                </a:r>
                <a:r>
                  <a:rPr lang="en-US" altLang="zh-CN" sz="1600" dirty="0">
                    <a:solidFill>
                      <a:srgbClr val="00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r>
                  <a:rPr lang="en-US" altLang="zh-CN" sz="1600" b="1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-Parameters calculation:</a:t>
                </a:r>
              </a:p>
              <a:p>
                <a:pPr marL="228594" indent="-228594"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Rate power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𝐾𝑊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=4000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</m:oMath>
                </a14:m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marL="228594" indent="-228594"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Rated speed: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=2910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𝑟𝑝𝑚</m:t>
                    </m:r>
                  </m:oMath>
                </a14:m>
                <a:r>
                  <a:rPr lang="en-US" altLang="zh-CN" sz="1600" b="1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 , 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convert to angular velocity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60</m:t>
                        </m:r>
                      </m:den>
                    </m:f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=304.734 rad/s </a:t>
                </a:r>
              </a:p>
              <a:p>
                <a:pPr marL="228594" indent="-228594"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Rate torque: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4000</m:t>
                        </m:r>
                      </m:num>
                      <m:den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304.734</m:t>
                        </m:r>
                      </m:den>
                    </m:f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=13.12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𝑁𝑚</m:t>
                    </m:r>
                  </m:oMath>
                </a14:m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marL="228594" indent="-228594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=0.05×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=0.05×13.12=0.656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𝑁𝑚</m:t>
                    </m:r>
                  </m:oMath>
                </a14:m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pPr marL="228594" indent="-228594"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At the rated operating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, so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13.12−0.656</m:t>
                        </m:r>
                      </m:num>
                      <m:den>
                        <m:sSup>
                          <m:sSupPr>
                            <m:ctrl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(304.734)</m:t>
                            </m:r>
                          </m:e>
                          <m:sup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=0.000134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𝑁𝑚</m:t>
                    </m:r>
                    <m:sSup>
                      <m:sSup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𝑟𝑎𝑑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pPr marL="228594" indent="-228594"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Total inertia: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=0.05+0.30=0.35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𝑘𝑔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r>
                  <a:rPr lang="en-US" altLang="zh-CN" sz="1600" b="1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-State Space Representation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: </a:t>
                </a:r>
              </a:p>
              <a:p>
                <a:pPr marL="380990" indent="-380990"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Differential equation: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𝑑𝑤</m:t>
                        </m:r>
                      </m:num>
                      <m:den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den>
                    </m:f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𝑐𝑜𝑛𝑡𝑟𝑜𝑙</m:t>
                            </m:r>
                          </m:sub>
                        </m:s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pPr marL="380990" indent="-380990"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Maximum is 2*</a:t>
                </a:r>
                <a:r>
                  <a:rPr lang="en-US" altLang="zh-CN" sz="1600" dirty="0">
                    <a:solidFill>
                      <a:srgbClr val="00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 = 26.24Nm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，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Max speed=437.206 rad/s</a:t>
                </a:r>
              </a:p>
              <a:p>
                <a:pPr marL="380990" indent="-380990"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Simulation as right side   -----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  <a:sym typeface="Wingdings" panose="05000000000000000000" pitchFamily="2" charset="2"/>
                  </a:rPr>
                  <a:t></a:t>
                </a:r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Note: Simulate with both continuous and discrete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DAF711C-39C8-E432-0673-D0326331E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0" y="745853"/>
                <a:ext cx="10400892" cy="5587299"/>
              </a:xfrm>
              <a:prstGeom prst="rect">
                <a:avLst/>
              </a:prstGeom>
              <a:blipFill>
                <a:blip r:embed="rId2"/>
                <a:stretch>
                  <a:fillRect l="-352" t="-327" b="-4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CD975A28-9F6A-F2F3-BA55-C6D098A73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0001" y="1826496"/>
            <a:ext cx="3114841" cy="16025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4CF973-18E8-C746-77A4-5BAE8BCB5E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1086" y="3627475"/>
            <a:ext cx="2380309" cy="2321245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40D3762-9351-6A42-5C7F-51677CBB1CC9}"/>
              </a:ext>
            </a:extLst>
          </p:cNvPr>
          <p:cNvCxnSpPr>
            <a:cxnSpLocks/>
          </p:cNvCxnSpPr>
          <p:nvPr/>
        </p:nvCxnSpPr>
        <p:spPr>
          <a:xfrm>
            <a:off x="8770935" y="745854"/>
            <a:ext cx="0" cy="5075676"/>
          </a:xfrm>
          <a:prstGeom prst="line">
            <a:avLst/>
          </a:prstGeom>
          <a:ln w="12700" cap="rnd">
            <a:solidFill>
              <a:srgbClr val="4F51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B300C43-B36D-2BE8-A883-8027055C6FFA}"/>
              </a:ext>
            </a:extLst>
          </p:cNvPr>
          <p:cNvSpPr txBox="1"/>
          <p:nvPr/>
        </p:nvSpPr>
        <p:spPr>
          <a:xfrm>
            <a:off x="8852171" y="1334054"/>
            <a:ext cx="30717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</a:rPr>
              <a:t>- Differential equation Simulation</a:t>
            </a:r>
            <a:endParaRPr lang="zh-CN" altLang="en-US" sz="16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664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450728E-A816-3440-9B68-0ED1336B8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854" y="4020767"/>
            <a:ext cx="7283956" cy="2403032"/>
          </a:xfrm>
          <a:prstGeom prst="rect">
            <a:avLst/>
          </a:prstGeom>
        </p:spPr>
      </p:pic>
      <p:sp>
        <p:nvSpPr>
          <p:cNvPr id="2" name="Title 9">
            <a:extLst>
              <a:ext uri="{FF2B5EF4-FFF2-40B4-BE49-F238E27FC236}">
                <a16:creationId xmlns:a16="http://schemas.microsoft.com/office/drawing/2014/main" id="{23632A7F-424D-771C-ECB2-7EB5A3B25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77" y="201277"/>
            <a:ext cx="11511375" cy="461729"/>
          </a:xfrm>
        </p:spPr>
        <p:txBody>
          <a:bodyPr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Fan Control</a:t>
            </a:r>
            <a:endParaRPr lang="en-US" b="1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DAF711C-39C8-E432-0673-D0326331E1BB}"/>
                  </a:ext>
                </a:extLst>
              </p:cNvPr>
              <p:cNvSpPr txBox="1"/>
              <p:nvPr/>
            </p:nvSpPr>
            <p:spPr>
              <a:xfrm>
                <a:off x="371610" y="745854"/>
                <a:ext cx="10400892" cy="40699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600" b="1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-PID Controller Design (Simplified)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:</a:t>
                </a:r>
              </a:p>
              <a:p>
                <a:pPr marL="228594" indent="-228594"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Start with PI controller which should be enough at the beginning</a:t>
                </a:r>
              </a:p>
              <a:p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	</a:t>
                </a:r>
              </a:p>
              <a:p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𝑐𝑜𝑛𝑡𝑟𝑜𝑙</m:t>
                        </m:r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𝑒𝑑𝑡</m:t>
                        </m:r>
                      </m:e>
                    </m:nary>
                  </m:oMath>
                </a14:m>
                <a:r>
                  <a:rPr lang="en-US" altLang="zh-CN" sz="16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   and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𝑟𝑒𝑓</m:t>
                        </m:r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𝑎𝑐𝑡𝑢𝑎𝑙</m:t>
                        </m:r>
                      </m:sub>
                    </m:sSub>
                  </m:oMath>
                </a14:m>
                <a:endParaRPr lang="en-US" altLang="zh-CN" sz="16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pPr marL="228594" indent="-228594">
                  <a:buFontTx/>
                  <a:buChar char="-"/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Fan Control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: </a:t>
                </a:r>
              </a:p>
              <a:p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DAF711C-39C8-E432-0673-D0326331E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0" y="745854"/>
                <a:ext cx="10400892" cy="4069960"/>
              </a:xfrm>
              <a:prstGeom prst="rect">
                <a:avLst/>
              </a:prstGeom>
              <a:blipFill>
                <a:blip r:embed="rId3"/>
                <a:stretch>
                  <a:fillRect l="-352" t="-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016809C-5752-D933-733D-3A6C1AFB2F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7729" y="2047275"/>
            <a:ext cx="4305200" cy="17441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F10BF5C-B3DD-BC62-286F-E85F216BB6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050" y="2781541"/>
            <a:ext cx="3384225" cy="314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3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9">
            <a:extLst>
              <a:ext uri="{FF2B5EF4-FFF2-40B4-BE49-F238E27FC236}">
                <a16:creationId xmlns:a16="http://schemas.microsoft.com/office/drawing/2014/main" id="{23632A7F-424D-771C-ECB2-7EB5A3B25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77" y="201277"/>
            <a:ext cx="11511375" cy="461729"/>
          </a:xfrm>
        </p:spPr>
        <p:txBody>
          <a:bodyPr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Fan Transfer Function</a:t>
            </a:r>
            <a:endParaRPr lang="en-US" b="1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DAF711C-39C8-E432-0673-D0326331E1BB}"/>
                  </a:ext>
                </a:extLst>
              </p:cNvPr>
              <p:cNvSpPr txBox="1"/>
              <p:nvPr/>
            </p:nvSpPr>
            <p:spPr>
              <a:xfrm>
                <a:off x="371610" y="745853"/>
                <a:ext cx="10400892" cy="4700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600" b="1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-Transfer Function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:</a:t>
                </a:r>
              </a:p>
              <a:p>
                <a:pPr marL="228594" indent="-228594"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Linearization around operating point, w0= 304.734 rad/s , T0=</a:t>
                </a:r>
                <a:r>
                  <a:rPr lang="en-US" altLang="zh-CN" sz="1600" dirty="0">
                    <a:solidFill>
                      <a:srgbClr val="00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13.12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𝑁𝑚</m:t>
                    </m:r>
                  </m:oMath>
                </a14:m>
                <a:endParaRPr lang="en-US" altLang="zh-CN" sz="1600" dirty="0">
                  <a:solidFill>
                    <a:srgbClr val="000000"/>
                  </a:solidFill>
                  <a:ea typeface="Cambria Math" panose="02040503050406030204" pitchFamily="18" charset="0"/>
                </a:endParaRPr>
              </a:p>
              <a:p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     Speed deviation:</a:t>
                </a:r>
                <a14:m>
                  <m:oMath xmlns:m="http://schemas.openxmlformats.org/officeDocument/2006/math">
                    <m:r>
                      <a:rPr lang="en-US" altLang="zh-CN" sz="16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zh-CN" alt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 = w- w0, torque deviation:</a:t>
                </a:r>
                <a14:m>
                  <m:oMath xmlns:m="http://schemas.openxmlformats.org/officeDocument/2006/math">
                    <m:r>
                      <a:rPr lang="en-US" altLang="zh-CN" sz="16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𝑇𝑚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𝑇𝑚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	</a:t>
                </a:r>
              </a:p>
              <a:p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0+</m:t>
                            </m:r>
                            <m:r>
                              <a:rPr lang="zh-CN" alt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a:rPr lang="en-US" altLang="zh-CN" sz="16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den>
                    </m:f>
                    <m:d>
                      <m:d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0+</m:t>
                                </m:r>
                                <m:r>
                                  <a:rPr lang="zh-CN" alt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  <m: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sz="16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endParaRPr lang="en-US" altLang="zh-CN" sz="1600" i="1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altLang="zh-CN" sz="1600" i="1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≫ </m:t>
                    </m:r>
                    <m:f>
                      <m:f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d>
                              <m:dPr>
                                <m:ctrlP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  <m: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d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a:rPr lang="en-US" altLang="zh-CN" sz="16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zh-CN" alt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zh-CN" alt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        , and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𝑎𝑤</m:t>
                        </m:r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den>
                    </m:f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  , and b=</a:t>
                </a:r>
                <a:r>
                  <a:rPr lang="en-US" altLang="zh-CN" sz="16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den>
                    </m:f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 </a:t>
                </a:r>
              </a:p>
              <a:p>
                <a:r>
                  <a:rPr lang="en-US" altLang="zh-CN" sz="1600" dirty="0">
                    <a:latin typeface="Inter"/>
                  </a:rPr>
                  <a:t>      Perform Laplace transform on both sides, and get below transfer function </a:t>
                </a:r>
              </a:p>
              <a:p>
                <a:pPr lvl="3"/>
                <a:r>
                  <a:rPr lang="en-US" altLang="zh-CN" sz="1600" dirty="0">
                    <a:solidFill>
                      <a:srgbClr val="000000"/>
                    </a:solidFill>
                  </a:rPr>
                  <a:t>G(s)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2.857</m:t>
                        </m:r>
                      </m:num>
                      <m:den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+0.2334</m:t>
                        </m:r>
                      </m:den>
                    </m:f>
                  </m:oMath>
                </a14:m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pPr marL="228594" indent="-228594"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Modeling</a:t>
                </a:r>
              </a:p>
              <a:p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DAF711C-39C8-E432-0673-D0326331E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0" y="745853"/>
                <a:ext cx="10400892" cy="4700774"/>
              </a:xfrm>
              <a:prstGeom prst="rect">
                <a:avLst/>
              </a:prstGeom>
              <a:blipFill>
                <a:blip r:embed="rId2"/>
                <a:stretch>
                  <a:fillRect l="-352" t="-3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7A58077-DECA-B47C-54E0-5AE46B1A1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432" y="4179592"/>
            <a:ext cx="3441537" cy="193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50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9">
            <a:extLst>
              <a:ext uri="{FF2B5EF4-FFF2-40B4-BE49-F238E27FC236}">
                <a16:creationId xmlns:a16="http://schemas.microsoft.com/office/drawing/2014/main" id="{23632A7F-424D-771C-ECB2-7EB5A3B25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77" y="201277"/>
            <a:ext cx="11511375" cy="461729"/>
          </a:xfrm>
        </p:spPr>
        <p:txBody>
          <a:bodyPr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Fan Control with Differential Equation and Transfer Function</a:t>
            </a:r>
            <a:endParaRPr lang="en-US" b="1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AF711C-39C8-E432-0673-D0326331E1BB}"/>
              </a:ext>
            </a:extLst>
          </p:cNvPr>
          <p:cNvSpPr txBox="1"/>
          <p:nvPr/>
        </p:nvSpPr>
        <p:spPr>
          <a:xfrm>
            <a:off x="371610" y="745854"/>
            <a:ext cx="10400892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-Validation with differential equation</a:t>
            </a:r>
            <a:r>
              <a:rPr lang="en-US" altLang="zh-CN" sz="1600" dirty="0">
                <a:solidFill>
                  <a:srgbClr val="000000"/>
                </a:solidFill>
                <a:latin typeface="Calibri" panose="020F0502020204030204" pitchFamily="34" charset="0"/>
              </a:rPr>
              <a:t>: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Calibri" panose="020F0502020204030204" pitchFamily="34" charset="0"/>
              </a:rPr>
              <a:t>Make modeling and compare output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28594" indent="-228594"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28594" indent="-228594"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28594" indent="-228594"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28594" indent="-228594"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28594" indent="-228594"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28594" indent="-228594"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28594" indent="-228594"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28594" indent="-228594"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28594" indent="-228594"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28594" indent="-228594"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28594" indent="-228594"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28594" indent="-228594"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28594" indent="-228594"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28594" indent="-228594"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Calibri" panose="020F0502020204030204" pitchFamily="34" charset="0"/>
              </a:rPr>
              <a:t>Result as</a:t>
            </a:r>
            <a:r>
              <a:rPr lang="zh-CN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alibri" panose="020F0502020204030204" pitchFamily="34" charset="0"/>
              </a:rPr>
              <a:t>right</a:t>
            </a:r>
            <a:r>
              <a:rPr lang="zh-CN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alibri" panose="020F0502020204030204" pitchFamily="34" charset="0"/>
              </a:rPr>
              <a:t>graph</a:t>
            </a:r>
            <a:r>
              <a:rPr lang="zh-CN" alt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alibri" panose="020F0502020204030204" pitchFamily="34" charset="0"/>
              </a:rPr>
              <a:t>shows 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E40D9B-DC1A-EFCA-3880-3F07601DE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123" y="3640876"/>
            <a:ext cx="3214840" cy="29901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7F93B1-8AED-074C-F527-B7C176491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270" y="1459671"/>
            <a:ext cx="5852853" cy="286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09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9">
            <a:extLst>
              <a:ext uri="{FF2B5EF4-FFF2-40B4-BE49-F238E27FC236}">
                <a16:creationId xmlns:a16="http://schemas.microsoft.com/office/drawing/2014/main" id="{23632A7F-424D-771C-ECB2-7EB5A3B25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77" y="201277"/>
            <a:ext cx="11511375" cy="461729"/>
          </a:xfrm>
        </p:spPr>
        <p:txBody>
          <a:bodyPr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Controller Performance </a:t>
            </a:r>
            <a:endParaRPr lang="en-US" b="1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DAF711C-39C8-E432-0673-D0326331E1BB}"/>
                  </a:ext>
                </a:extLst>
              </p:cNvPr>
              <p:cNvSpPr txBox="1"/>
              <p:nvPr/>
            </p:nvSpPr>
            <p:spPr>
              <a:xfrm>
                <a:off x="371610" y="745854"/>
                <a:ext cx="10400892" cy="67072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600" b="1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-PI Controller + Fan Model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:</a:t>
                </a:r>
              </a:p>
              <a:p>
                <a:pPr marL="228594" indent="-228594"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PI: </a:t>
                </a:r>
                <a:r>
                  <a:rPr lang="en-US" altLang="zh-CN" sz="1600" dirty="0">
                    <a:solidFill>
                      <a:srgbClr val="000000"/>
                    </a:solidFill>
                  </a:rPr>
                  <a:t>G1(s)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den>
                    </m:f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</a:rPr>
                  <a:t> </a:t>
                </a:r>
              </a:p>
              <a:p>
                <a:pPr marL="228594" indent="-228594"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Fan: </a:t>
                </a:r>
                <a:r>
                  <a:rPr lang="en-US" altLang="zh-CN" sz="1600" dirty="0">
                    <a:solidFill>
                      <a:srgbClr val="000000"/>
                    </a:solidFill>
                  </a:rPr>
                  <a:t>G2(s)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2.857</m:t>
                        </m:r>
                      </m:num>
                      <m:den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+0.2334</m:t>
                        </m:r>
                      </m:den>
                    </m:f>
                  </m:oMath>
                </a14:m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pPr marL="228594" indent="-228594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𝑂𝑝𝑒𝑛</m:t>
                        </m:r>
                      </m:sub>
                    </m:sSub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(S) = G1*G2</a:t>
                </a:r>
              </a:p>
              <a:p>
                <a:pPr marL="228594" indent="-228594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𝐶𝑙𝑜𝑠𝑒</m:t>
                        </m:r>
                      </m:sub>
                    </m:sSub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(S) =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𝑂𝑝𝑒𝑛</m:t>
                            </m:r>
                          </m:sub>
                        </m:sSub>
                      </m:num>
                      <m:den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𝑂𝑝𝑒𝑛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 = =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2.857</m:t>
                        </m:r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+2.857</m:t>
                        </m:r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0.2334+2.857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+2.857</m:t>
                        </m:r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 </a:t>
                </a:r>
              </a:p>
              <a:p>
                <a:pPr marL="228594" indent="-228594"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Frequency </a:t>
                </a:r>
                <a:r>
                  <a:rPr lang="en-US" altLang="zh-CN" sz="1600" dirty="0" err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fn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 = sqrt(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2.857∗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), damping </a:t>
                </a:r>
                <a:r>
                  <a:rPr lang="en-US" altLang="zh-CN" sz="1600" dirty="0" err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dp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= (0.2334+2.857*</a:t>
                </a:r>
                <a:r>
                  <a:rPr lang="en-US" altLang="zh-CN" sz="1600" dirty="0" err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Kp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) / (2*</a:t>
                </a:r>
                <a:r>
                  <a:rPr lang="en-US" altLang="zh-CN" sz="1600" dirty="0" err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fn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)</a:t>
                </a:r>
              </a:p>
              <a:p>
                <a:r>
                  <a:rPr lang="en-US" altLang="zh-CN" sz="1600" dirty="0">
                    <a:solidFill>
                      <a:srgbClr val="000000"/>
                    </a:solidFill>
                  </a:rPr>
                  <a:t> </a:t>
                </a:r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r>
                  <a:rPr lang="en-US" altLang="zh-CN" sz="1600" b="1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- Target performance setting: </a:t>
                </a:r>
              </a:p>
              <a:p>
                <a:pPr marL="228594" indent="-228594"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Rising time: RT= 1.8 /</a:t>
                </a:r>
                <a:r>
                  <a:rPr lang="en-US" altLang="zh-CN" sz="1600" dirty="0" err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fn</a:t>
                </a:r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pPr marL="228594" indent="-228594"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Overshoot: OS=exp(-</a:t>
                </a:r>
                <a:r>
                  <a:rPr lang="en-US" altLang="zh-CN" sz="1600" dirty="0" err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dp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 * pi/sqrt(1-dp*</a:t>
                </a:r>
                <a:r>
                  <a:rPr lang="en-US" altLang="zh-CN" sz="1600" dirty="0" err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dp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)) * 100%</a:t>
                </a:r>
              </a:p>
              <a:p>
                <a:pPr marL="228594" indent="-228594"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Stable time: ST= 4/(</a:t>
                </a:r>
                <a:r>
                  <a:rPr lang="en-US" altLang="zh-CN" sz="1600" dirty="0" err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dp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 * </a:t>
                </a:r>
                <a:r>
                  <a:rPr lang="en-US" altLang="zh-CN" sz="1600" dirty="0" err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fn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)</a:t>
                </a:r>
              </a:p>
              <a:p>
                <a:pPr marL="228594" indent="-228594">
                  <a:buFont typeface="Arial" panose="020B0604020202020204" pitchFamily="34" charset="0"/>
                  <a:buChar char="•"/>
                </a:pPr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pPr marL="228594" indent="-228594">
                  <a:buFont typeface="Arial" panose="020B0604020202020204" pitchFamily="34" charset="0"/>
                  <a:buChar char="•"/>
                </a:pPr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pPr marL="228594" indent="-228594">
                  <a:buFontTx/>
                  <a:buChar char="-"/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PI parameters (Simplified with limitation)</a:t>
                </a:r>
              </a:p>
              <a:p>
                <a:pPr marL="228594" indent="-228594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 = (2 * </a:t>
                </a:r>
                <a:r>
                  <a:rPr lang="en-US" altLang="zh-CN" sz="1600" dirty="0" err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dp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 * fn-0.2334)/2.857 </a:t>
                </a:r>
              </a:p>
              <a:p>
                <a:pPr marL="228594" indent="-228594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 = (</a:t>
                </a:r>
                <a:r>
                  <a:rPr lang="en-US" altLang="zh-CN" sz="1600" dirty="0" err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fn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 * </a:t>
                </a:r>
                <a:r>
                  <a:rPr lang="en-US" altLang="zh-CN" sz="1600" dirty="0" err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fn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) / 2.857</a:t>
                </a:r>
              </a:p>
              <a:p>
                <a:pPr marL="228594" indent="-228594">
                  <a:buFont typeface="Arial" panose="020B0604020202020204" pitchFamily="34" charset="0"/>
                  <a:buChar char="•"/>
                </a:pPr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pPr marL="228594" indent="-228594">
                  <a:buFont typeface="Arial" panose="020B0604020202020204" pitchFamily="34" charset="0"/>
                  <a:buChar char="•"/>
                </a:pPr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pPr marL="228594" indent="-228594">
                  <a:buFont typeface="Arial" panose="020B0604020202020204" pitchFamily="34" charset="0"/>
                  <a:buChar char="•"/>
                </a:pPr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endPara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DAF711C-39C8-E432-0673-D0326331E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0" y="745854"/>
                <a:ext cx="10400892" cy="6707285"/>
              </a:xfrm>
              <a:prstGeom prst="rect">
                <a:avLst/>
              </a:prstGeom>
              <a:blipFill>
                <a:blip r:embed="rId2"/>
                <a:stretch>
                  <a:fillRect l="-352" t="-2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30FA611E-D289-3F59-87B0-6CC4AFE70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0016" y="3985948"/>
            <a:ext cx="7527253" cy="196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654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9">
            <a:extLst>
              <a:ext uri="{FF2B5EF4-FFF2-40B4-BE49-F238E27FC236}">
                <a16:creationId xmlns:a16="http://schemas.microsoft.com/office/drawing/2014/main" id="{23632A7F-424D-771C-ECB2-7EB5A3B25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77" y="201277"/>
            <a:ext cx="11511375" cy="461729"/>
          </a:xfrm>
        </p:spPr>
        <p:txBody>
          <a:bodyPr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Controller Performance Test</a:t>
            </a:r>
            <a:endParaRPr lang="en-US" b="1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AF711C-39C8-E432-0673-D0326331E1BB}"/>
              </a:ext>
            </a:extLst>
          </p:cNvPr>
          <p:cNvSpPr txBox="1"/>
          <p:nvPr/>
        </p:nvSpPr>
        <p:spPr>
          <a:xfrm>
            <a:off x="199175" y="637326"/>
            <a:ext cx="11511375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altLang="zh-CN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1. Rising time=5s, Overshoot=10%, Stable time =10s</a:t>
            </a:r>
          </a:p>
          <a:p>
            <a:pPr marL="228594" indent="-228594">
              <a:buFontTx/>
              <a:buChar char="-"/>
            </a:pPr>
            <a:endParaRPr lang="en-US" altLang="zh-CN" sz="16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28594" indent="-228594">
              <a:buFontTx/>
              <a:buChar char="-"/>
            </a:pPr>
            <a:endParaRPr lang="en-US" altLang="zh-CN" sz="16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28594" indent="-228594">
              <a:buFontTx/>
              <a:buChar char="-"/>
            </a:pPr>
            <a:endParaRPr lang="en-US" altLang="zh-CN" sz="16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28594" indent="-228594">
              <a:buFontTx/>
              <a:buChar char="-"/>
            </a:pPr>
            <a:endParaRPr lang="en-US" altLang="zh-CN" sz="16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28594" indent="-228594">
              <a:buFontTx/>
              <a:buChar char="-"/>
            </a:pPr>
            <a:endParaRPr lang="en-US" altLang="zh-CN" sz="16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28594" indent="-228594">
              <a:buFontTx/>
              <a:buChar char="-"/>
            </a:pPr>
            <a:endParaRPr lang="en-US" altLang="zh-CN" sz="16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28594" indent="-228594">
              <a:buFontTx/>
              <a:buChar char="-"/>
            </a:pPr>
            <a:endParaRPr lang="en-US" altLang="zh-CN" sz="16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sz="16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altLang="zh-CN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       Result: Rising time=4.2s, Overshoot=14%</a:t>
            </a:r>
            <a:r>
              <a:rPr lang="zh-CN" altLang="en-US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， </a:t>
            </a:r>
            <a:r>
              <a:rPr lang="en-US" altLang="zh-CN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Stable time=10s</a:t>
            </a:r>
          </a:p>
          <a:p>
            <a:endParaRPr lang="en-US" altLang="zh-CN" sz="16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altLang="zh-CN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2. Rising time=10S, Overshoot=5%, Stable time =20s                                  3. Rising time=20S, Overshoot=5%, Stable time =30s</a:t>
            </a:r>
          </a:p>
          <a:p>
            <a:endParaRPr lang="en-US" altLang="zh-CN" sz="16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Calibri" panose="020F0502020204030204" pitchFamily="34" charset="0"/>
              </a:rPr>
              <a:t>  </a:t>
            </a:r>
            <a:r>
              <a:rPr lang="en-US" altLang="zh-CN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Result: Rising time=9.7s, Overshoot=5.3%</a:t>
            </a:r>
            <a:r>
              <a:rPr lang="zh-CN" altLang="en-US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， </a:t>
            </a:r>
            <a:r>
              <a:rPr lang="en-US" altLang="zh-CN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Stable time=22s                      Result: Rising time=21s, Overshoot=3.3%</a:t>
            </a:r>
            <a:r>
              <a:rPr lang="zh-CN" altLang="en-US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， </a:t>
            </a:r>
            <a:r>
              <a:rPr lang="en-US" altLang="zh-CN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Stable time=30s</a:t>
            </a:r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A90EF4-52C1-C7FE-769F-641EEEABE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9512" y="226956"/>
            <a:ext cx="5803312" cy="319394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50DB1BB-6EFD-2189-A6B0-1F03EA194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0206" y="3874853"/>
            <a:ext cx="4046159" cy="1814747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B49BC53-5CC7-761A-3C02-FD177DDE593F}"/>
              </a:ext>
            </a:extLst>
          </p:cNvPr>
          <p:cNvSpPr/>
          <p:nvPr/>
        </p:nvSpPr>
        <p:spPr>
          <a:xfrm>
            <a:off x="199173" y="807379"/>
            <a:ext cx="5521040" cy="2594043"/>
          </a:xfrm>
          <a:prstGeom prst="roundRect">
            <a:avLst/>
          </a:prstGeom>
          <a:solidFill>
            <a:schemeClr val="bg2">
              <a:lumMod val="40000"/>
              <a:lumOff val="60000"/>
              <a:alpha val="1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3C05E25-EA66-3B7E-0164-C0D61F76A105}"/>
              </a:ext>
            </a:extLst>
          </p:cNvPr>
          <p:cNvSpPr/>
          <p:nvPr/>
        </p:nvSpPr>
        <p:spPr>
          <a:xfrm>
            <a:off x="199176" y="3530425"/>
            <a:ext cx="5265907" cy="2594043"/>
          </a:xfrm>
          <a:prstGeom prst="roundRect">
            <a:avLst/>
          </a:prstGeom>
          <a:solidFill>
            <a:schemeClr val="bg2">
              <a:lumMod val="40000"/>
              <a:lumOff val="60000"/>
              <a:alpha val="1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2C5F3AE-0224-C11B-82B2-F998160202D2}"/>
              </a:ext>
            </a:extLst>
          </p:cNvPr>
          <p:cNvSpPr/>
          <p:nvPr/>
        </p:nvSpPr>
        <p:spPr>
          <a:xfrm>
            <a:off x="1867712" y="3999536"/>
            <a:ext cx="5710736" cy="2594043"/>
          </a:xfrm>
          <a:prstGeom prst="roundRect">
            <a:avLst/>
          </a:prstGeom>
          <a:solidFill>
            <a:schemeClr val="bg2">
              <a:lumMod val="40000"/>
              <a:lumOff val="60000"/>
              <a:alpha val="1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93A9832-DEED-60F9-3E77-7716585C6539}"/>
              </a:ext>
            </a:extLst>
          </p:cNvPr>
          <p:cNvSpPr/>
          <p:nvPr/>
        </p:nvSpPr>
        <p:spPr>
          <a:xfrm>
            <a:off x="6002489" y="117430"/>
            <a:ext cx="5990335" cy="3193943"/>
          </a:xfrm>
          <a:prstGeom prst="roundRect">
            <a:avLst/>
          </a:prstGeom>
          <a:solidFill>
            <a:schemeClr val="bg2">
              <a:lumMod val="40000"/>
              <a:lumOff val="60000"/>
              <a:alpha val="1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60A79AA-28E7-2845-5C63-55024ABEB9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89" y="1268005"/>
            <a:ext cx="3192817" cy="168471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1AE0D8F-6D7D-7B47-8A76-A5F73E5FFA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018" y="3934418"/>
            <a:ext cx="4367828" cy="1755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605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9">
            <a:extLst>
              <a:ext uri="{FF2B5EF4-FFF2-40B4-BE49-F238E27FC236}">
                <a16:creationId xmlns:a16="http://schemas.microsoft.com/office/drawing/2014/main" id="{23632A7F-424D-771C-ECB2-7EB5A3B25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77" y="201277"/>
            <a:ext cx="11511375" cy="461729"/>
          </a:xfrm>
        </p:spPr>
        <p:txBody>
          <a:bodyPr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 Code Generation</a:t>
            </a:r>
            <a:endParaRPr lang="en-US" b="1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AF711C-39C8-E432-0673-D0326331E1BB}"/>
              </a:ext>
            </a:extLst>
          </p:cNvPr>
          <p:cNvSpPr txBox="1"/>
          <p:nvPr/>
        </p:nvSpPr>
        <p:spPr>
          <a:xfrm>
            <a:off x="371610" y="745854"/>
            <a:ext cx="1040089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28594" indent="-228594"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28594" indent="-228594"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FC5681-8B62-A989-BE66-04BCAA98F931}"/>
              </a:ext>
            </a:extLst>
          </p:cNvPr>
          <p:cNvSpPr txBox="1"/>
          <p:nvPr/>
        </p:nvSpPr>
        <p:spPr>
          <a:xfrm>
            <a:off x="371610" y="745853"/>
            <a:ext cx="1040089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-Model Level</a:t>
            </a:r>
            <a:r>
              <a:rPr lang="en-US" altLang="zh-CN" sz="1600" dirty="0">
                <a:solidFill>
                  <a:srgbClr val="000000"/>
                </a:solidFill>
                <a:latin typeface="Calibri" panose="020F0502020204030204" pitchFamily="34" charset="0"/>
              </a:rPr>
              <a:t>: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Three interface functions: </a:t>
            </a:r>
          </a:p>
          <a:p>
            <a:pPr marL="2743131" lvl="4" indent="-304792">
              <a:buAutoNum type="arabicPeriod"/>
            </a:pPr>
            <a:r>
              <a:rPr lang="fr-FR" altLang="zh-CN" sz="1600" dirty="0" err="1">
                <a:solidFill>
                  <a:srgbClr val="835528"/>
                </a:solidFill>
                <a:latin typeface="Menlo"/>
              </a:rPr>
              <a:t>real_T</a:t>
            </a:r>
            <a:r>
              <a:rPr lang="fr-FR" altLang="zh-CN" sz="1600" dirty="0">
                <a:solidFill>
                  <a:srgbClr val="444444"/>
                </a:solidFill>
                <a:latin typeface="Menlo"/>
              </a:rPr>
              <a:t> </a:t>
            </a:r>
            <a:r>
              <a:rPr lang="fr-FR" altLang="zh-CN" sz="1600" dirty="0" err="1">
                <a:solidFill>
                  <a:srgbClr val="0000FF"/>
                </a:solidFill>
                <a:latin typeface="Menlo"/>
              </a:rPr>
              <a:t>Fan_Controller_Exe</a:t>
            </a:r>
            <a:r>
              <a:rPr lang="fr-FR" altLang="zh-CN" sz="1600" dirty="0">
                <a:solidFill>
                  <a:srgbClr val="0000FF"/>
                </a:solidFill>
                <a:latin typeface="Menlo"/>
              </a:rPr>
              <a:t>();</a:t>
            </a:r>
          </a:p>
          <a:p>
            <a:pPr marL="2743131" lvl="4" indent="-304792">
              <a:buAutoNum type="arabicPeriod"/>
            </a:pPr>
            <a:r>
              <a:rPr lang="en-US" altLang="zh-CN" sz="1600" dirty="0">
                <a:solidFill>
                  <a:srgbClr val="800080"/>
                </a:solidFill>
                <a:latin typeface="Menlo"/>
              </a:rPr>
              <a:t>void</a:t>
            </a:r>
            <a:r>
              <a:rPr lang="en-US" altLang="zh-CN" sz="1600" dirty="0">
                <a:solidFill>
                  <a:srgbClr val="444444"/>
                </a:solidFill>
                <a:latin typeface="Menlo"/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  <a:latin typeface="Menlo"/>
              </a:rPr>
              <a:t>Fan_Controller_Init</a:t>
            </a:r>
            <a:r>
              <a:rPr lang="fr-FR" altLang="zh-CN" sz="1600" dirty="0">
                <a:solidFill>
                  <a:srgbClr val="0000FF"/>
                </a:solidFill>
                <a:latin typeface="Menlo"/>
              </a:rPr>
              <a:t>()</a:t>
            </a:r>
          </a:p>
          <a:p>
            <a:pPr marL="2743131" lvl="4" indent="-304792">
              <a:buAutoNum type="arabicPeriod"/>
            </a:pPr>
            <a:r>
              <a:rPr lang="en-US" altLang="zh-CN" sz="1600" dirty="0">
                <a:solidFill>
                  <a:srgbClr val="800080"/>
                </a:solidFill>
                <a:latin typeface="Menlo"/>
              </a:rPr>
              <a:t>void</a:t>
            </a:r>
            <a:r>
              <a:rPr lang="en-US" altLang="zh-CN" sz="1600" dirty="0">
                <a:solidFill>
                  <a:srgbClr val="444444"/>
                </a:solidFill>
                <a:latin typeface="Menlo"/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  <a:latin typeface="Menlo"/>
              </a:rPr>
              <a:t>Fan_Controller_terminate</a:t>
            </a:r>
            <a:r>
              <a:rPr lang="en-US" altLang="zh-CN" sz="1600" dirty="0">
                <a:solidFill>
                  <a:srgbClr val="444444"/>
                </a:solidFill>
                <a:latin typeface="Menlo"/>
              </a:rPr>
              <a:t>(</a:t>
            </a:r>
            <a:r>
              <a:rPr lang="fr-FR" altLang="zh-CN" sz="1600" dirty="0">
                <a:solidFill>
                  <a:srgbClr val="0000FF"/>
                </a:solidFill>
                <a:latin typeface="Menlo"/>
              </a:rPr>
              <a:t>)</a:t>
            </a:r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altLang="zh-CN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- Subsystem Level: 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Calibri" panose="020F0502020204030204" pitchFamily="34" charset="0"/>
              </a:rPr>
              <a:t>Three interface functions:</a:t>
            </a:r>
          </a:p>
          <a:p>
            <a:pPr marL="2743131" lvl="4" indent="-304792">
              <a:buFont typeface="+mj-lt"/>
              <a:buAutoNum type="arabicPeriod"/>
            </a:pPr>
            <a:r>
              <a:rPr lang="en-US" altLang="zh-CN" sz="1600" dirty="0">
                <a:solidFill>
                  <a:srgbClr val="800080"/>
                </a:solidFill>
                <a:latin typeface="Menlo"/>
              </a:rPr>
              <a:t>void</a:t>
            </a:r>
            <a:r>
              <a:rPr lang="en-US" altLang="zh-CN" sz="1600" dirty="0">
                <a:solidFill>
                  <a:srgbClr val="444444"/>
                </a:solidFill>
                <a:latin typeface="Menlo"/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  <a:latin typeface="Menlo"/>
              </a:rPr>
              <a:t>PID_Parameter_Adjustment</a:t>
            </a:r>
            <a:r>
              <a:rPr lang="en-US" altLang="zh-CN" sz="1600" dirty="0">
                <a:solidFill>
                  <a:srgbClr val="444444"/>
                </a:solidFill>
                <a:latin typeface="Menlo"/>
              </a:rPr>
              <a:t>()</a:t>
            </a:r>
          </a:p>
          <a:p>
            <a:pPr marL="2743131" lvl="4" indent="-304792">
              <a:buFont typeface="+mj-lt"/>
              <a:buAutoNum type="arabicPeriod"/>
            </a:pPr>
            <a:r>
              <a:rPr lang="en-US" altLang="zh-CN" sz="1600" dirty="0" err="1">
                <a:solidFill>
                  <a:srgbClr val="835528"/>
                </a:solidFill>
                <a:latin typeface="Menlo"/>
              </a:rPr>
              <a:t>real_T</a:t>
            </a:r>
            <a:r>
              <a:rPr lang="en-US" altLang="zh-CN" sz="1600" dirty="0">
                <a:solidFill>
                  <a:srgbClr val="444444"/>
                </a:solidFill>
                <a:latin typeface="Menlo"/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  <a:latin typeface="Menlo"/>
              </a:rPr>
              <a:t>Fan_Control_PID</a:t>
            </a:r>
            <a:r>
              <a:rPr lang="en-US" altLang="zh-CN" sz="1600" dirty="0">
                <a:solidFill>
                  <a:srgbClr val="0000FF"/>
                </a:solidFill>
                <a:latin typeface="Menlo"/>
              </a:rPr>
              <a:t>()</a:t>
            </a:r>
          </a:p>
          <a:p>
            <a:pPr marL="2743131" lvl="4" indent="-304792">
              <a:buFont typeface="+mj-lt"/>
              <a:buAutoNum type="arabicPeriod"/>
            </a:pPr>
            <a:r>
              <a:rPr lang="en-US" altLang="zh-CN" sz="1600" dirty="0">
                <a:solidFill>
                  <a:srgbClr val="800080"/>
                </a:solidFill>
                <a:latin typeface="Menlo"/>
              </a:rPr>
              <a:t>void</a:t>
            </a:r>
            <a:r>
              <a:rPr lang="en-US" altLang="zh-CN" sz="1600" dirty="0">
                <a:solidFill>
                  <a:srgbClr val="444444"/>
                </a:solidFill>
                <a:latin typeface="Menlo"/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  <a:latin typeface="Menlo"/>
              </a:rPr>
              <a:t>Fan_Control_PID_Init</a:t>
            </a:r>
            <a:r>
              <a:rPr lang="en-US" altLang="zh-CN" sz="1600" dirty="0">
                <a:solidFill>
                  <a:srgbClr val="0000FF"/>
                </a:solidFill>
                <a:latin typeface="Menlo"/>
              </a:rPr>
              <a:t>()</a:t>
            </a:r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Calibri" panose="020F0502020204030204" pitchFamily="34" charset="0"/>
              </a:rPr>
              <a:t>-</a:t>
            </a:r>
            <a:r>
              <a:rPr lang="en-US" altLang="zh-CN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SIL</a:t>
            </a:r>
          </a:p>
          <a:p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6CB58A-0415-E662-3343-7428AF03D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76" y="3952054"/>
            <a:ext cx="5896824" cy="2386057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EB7C8C6A-2D32-1E2D-1A23-3BD1389AD540}"/>
              </a:ext>
            </a:extLst>
          </p:cNvPr>
          <p:cNvSpPr/>
          <p:nvPr/>
        </p:nvSpPr>
        <p:spPr>
          <a:xfrm>
            <a:off x="6147882" y="4124529"/>
            <a:ext cx="432340" cy="319932"/>
          </a:xfrm>
          <a:prstGeom prst="rightArrow">
            <a:avLst/>
          </a:prstGeom>
          <a:solidFill>
            <a:schemeClr val="bg2"/>
          </a:solidFill>
          <a:ln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E0A881A-8082-1C81-7A57-653E94E7F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189" y="226957"/>
            <a:ext cx="5480472" cy="32020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7C403AA-119C-F6C3-8FE1-8BE8F4D872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2103" y="3946580"/>
            <a:ext cx="5544296" cy="2682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337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9">
            <a:extLst>
              <a:ext uri="{FF2B5EF4-FFF2-40B4-BE49-F238E27FC236}">
                <a16:creationId xmlns:a16="http://schemas.microsoft.com/office/drawing/2014/main" id="{23632A7F-424D-771C-ECB2-7EB5A3B25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77" y="201277"/>
            <a:ext cx="11511375" cy="461729"/>
          </a:xfrm>
        </p:spPr>
        <p:txBody>
          <a:bodyPr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 HIL</a:t>
            </a:r>
            <a:endParaRPr lang="en-US" b="1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AF711C-39C8-E432-0673-D0326331E1BB}"/>
              </a:ext>
            </a:extLst>
          </p:cNvPr>
          <p:cNvSpPr txBox="1"/>
          <p:nvPr/>
        </p:nvSpPr>
        <p:spPr>
          <a:xfrm>
            <a:off x="371610" y="745853"/>
            <a:ext cx="1040089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- HIL License expired, and get new </a:t>
            </a:r>
            <a:r>
              <a:rPr lang="en-US" altLang="zh-CN" sz="1600" b="1" dirty="0" err="1">
                <a:solidFill>
                  <a:srgbClr val="000000"/>
                </a:solidFill>
                <a:latin typeface="Calibri" panose="020F0502020204030204" pitchFamily="34" charset="0"/>
              </a:rPr>
              <a:t>licenseing</a:t>
            </a:r>
            <a:endParaRPr lang="en-US" altLang="zh-CN" sz="16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sz="16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sz="16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sz="16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altLang="zh-CN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-  </a:t>
            </a:r>
            <a:r>
              <a:rPr lang="en-US" altLang="zh-CN" sz="1600" dirty="0">
                <a:solidFill>
                  <a:srgbClr val="000000"/>
                </a:solidFill>
                <a:latin typeface="Calibri" panose="020F0502020204030204" pitchFamily="34" charset="0"/>
              </a:rPr>
              <a:t>:</a:t>
            </a:r>
          </a:p>
          <a:p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28594" indent="-228594"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28594" indent="-228594"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128365-3B8B-0EC0-AA37-D0D66139D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4785" y="1048213"/>
            <a:ext cx="5608372" cy="296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44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9">
            <a:extLst>
              <a:ext uri="{FF2B5EF4-FFF2-40B4-BE49-F238E27FC236}">
                <a16:creationId xmlns:a16="http://schemas.microsoft.com/office/drawing/2014/main" id="{23632A7F-424D-771C-ECB2-7EB5A3B25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77" y="201277"/>
            <a:ext cx="11511375" cy="461729"/>
          </a:xfr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BCDF75-2DF5-FC75-3601-423294D3CFD8}"/>
              </a:ext>
            </a:extLst>
          </p:cNvPr>
          <p:cNvSpPr txBox="1"/>
          <p:nvPr/>
        </p:nvSpPr>
        <p:spPr>
          <a:xfrm>
            <a:off x="371610" y="1169547"/>
            <a:ext cx="10400892" cy="4934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>
              <a:buAutoNum type="arabicPeriod"/>
            </a:pPr>
            <a:r>
              <a:rPr lang="en-US" altLang="zh-CN" sz="2133" dirty="0"/>
              <a:t>Fan Modeling</a:t>
            </a:r>
          </a:p>
          <a:p>
            <a:pPr marL="457189" indent="-457189">
              <a:buAutoNum type="arabicPeriod"/>
            </a:pPr>
            <a:r>
              <a:rPr lang="en-US" altLang="zh-CN" sz="2133" dirty="0"/>
              <a:t>Fan Control</a:t>
            </a:r>
          </a:p>
          <a:p>
            <a:pPr marL="457189" indent="-457189">
              <a:buAutoNum type="arabicPeriod"/>
            </a:pPr>
            <a:r>
              <a:rPr lang="en-US" altLang="zh-CN" sz="2133" dirty="0"/>
              <a:t>Fan Transfer Function</a:t>
            </a:r>
          </a:p>
          <a:p>
            <a:pPr marL="457189" indent="-457189">
              <a:buAutoNum type="arabicPeriod"/>
            </a:pPr>
            <a:r>
              <a:rPr lang="en-US" altLang="zh-CN" sz="2133" dirty="0"/>
              <a:t>Fan Control with Differential Equation and Transfer Function</a:t>
            </a:r>
          </a:p>
          <a:p>
            <a:pPr marL="457189" indent="-457189">
              <a:buAutoNum type="arabicPeriod"/>
            </a:pPr>
            <a:r>
              <a:rPr lang="en-US" altLang="zh-CN" sz="2133" dirty="0"/>
              <a:t>Controller Performance</a:t>
            </a:r>
          </a:p>
          <a:p>
            <a:pPr marL="457189" indent="-457189">
              <a:buAutoNum type="arabicPeriod"/>
            </a:pPr>
            <a:r>
              <a:rPr lang="en-US" altLang="zh-CN" sz="2133" dirty="0"/>
              <a:t>Controller Performance Test</a:t>
            </a:r>
          </a:p>
          <a:p>
            <a:pPr marL="457189" indent="-457189">
              <a:buAutoNum type="arabicPeriod"/>
            </a:pPr>
            <a:r>
              <a:rPr lang="en-US" altLang="zh-CN" sz="2133" dirty="0"/>
              <a:t>Code Generation</a:t>
            </a:r>
          </a:p>
          <a:p>
            <a:pPr marL="457189" indent="-457189">
              <a:buAutoNum type="arabicPeriod"/>
            </a:pPr>
            <a:r>
              <a:rPr lang="en-US" altLang="zh-CN" sz="2133" dirty="0"/>
              <a:t>HIL</a:t>
            </a:r>
          </a:p>
          <a:p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28594" indent="-228594"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28594" indent="-228594"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290247-B1F4-4F68-4765-2610C88B1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467" y="1169547"/>
            <a:ext cx="311216" cy="3482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657821-C521-FCEC-ECC4-22871E1E6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467" y="1546896"/>
            <a:ext cx="311216" cy="3482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76A5D4-6810-387D-9AE2-F8BCC70AC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2049" y="1809411"/>
            <a:ext cx="311216" cy="3482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042E1D-948A-4495-66DE-11A6EA195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660" y="2211208"/>
            <a:ext cx="311216" cy="3482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9D4506-8753-68DF-EE8A-3C05F7A34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641" y="2515781"/>
            <a:ext cx="311216" cy="3482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16ACA0-0CCE-E54F-8141-4FCE838FF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6447" y="2864080"/>
            <a:ext cx="311216" cy="3482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42AA1E7-1B84-5F9A-A014-839545BE6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327" y="3212379"/>
            <a:ext cx="311216" cy="3482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133558D-D925-6784-52F0-D415E0712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0538" y="1709546"/>
            <a:ext cx="1786745" cy="10033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D9B824B-1565-D4DC-3F7C-7C7222129A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0870" y="329364"/>
            <a:ext cx="2635277" cy="10676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DA030D9-C954-6CCA-5527-D27337485A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1730" y="2937584"/>
            <a:ext cx="3164676" cy="11871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8897C45-1C48-6EF2-F954-04FF4228EF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3070" y="4420643"/>
            <a:ext cx="3321335" cy="162560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59B03DB-A9E7-4643-1840-89F38D02B13C}"/>
              </a:ext>
            </a:extLst>
          </p:cNvPr>
          <p:cNvCxnSpPr>
            <a:cxnSpLocks/>
          </p:cNvCxnSpPr>
          <p:nvPr/>
        </p:nvCxnSpPr>
        <p:spPr>
          <a:xfrm>
            <a:off x="8537472" y="745854"/>
            <a:ext cx="0" cy="5075676"/>
          </a:xfrm>
          <a:prstGeom prst="line">
            <a:avLst/>
          </a:prstGeom>
          <a:ln w="12700" cap="rnd">
            <a:solidFill>
              <a:srgbClr val="4F51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8333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7443d00-af18-408c-9335-47b5de3ec9b9}" enabled="1" method="Privileged" siteId="{6e51e1ad-c54b-4b39-b598-0ffe9ae68fef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687</Words>
  <Application>Microsoft Office PowerPoint</Application>
  <PresentationFormat>Widescreen</PresentationFormat>
  <Paragraphs>178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Inter</vt:lpstr>
      <vt:lpstr>Menlo</vt:lpstr>
      <vt:lpstr>等线</vt:lpstr>
      <vt:lpstr>等线 Light</vt:lpstr>
      <vt:lpstr>Aptos</vt:lpstr>
      <vt:lpstr>Arial</vt:lpstr>
      <vt:lpstr>Calibri</vt:lpstr>
      <vt:lpstr>Cambria Math</vt:lpstr>
      <vt:lpstr>Office Theme</vt:lpstr>
      <vt:lpstr>Fan Modeling and Controller</vt:lpstr>
      <vt:lpstr>1. Fan Modeling</vt:lpstr>
      <vt:lpstr>2. Fan Control</vt:lpstr>
      <vt:lpstr>3. Fan Transfer Function</vt:lpstr>
      <vt:lpstr>4. Fan Control with Differential Equation and Transfer Function</vt:lpstr>
      <vt:lpstr>5. Controller Performance </vt:lpstr>
      <vt:lpstr>6. Controller Performance Test</vt:lpstr>
      <vt:lpstr>7. Code Generation</vt:lpstr>
      <vt:lpstr>8. HIL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 WU</dc:creator>
  <cp:lastModifiedBy>Leon WU</cp:lastModifiedBy>
  <cp:revision>4</cp:revision>
  <dcterms:created xsi:type="dcterms:W3CDTF">2026-04-30T00:50:42Z</dcterms:created>
  <dcterms:modified xsi:type="dcterms:W3CDTF">2026-04-30T01:09:35Z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General</vt:lpwstr>
  </property>
</Properties>
</file>